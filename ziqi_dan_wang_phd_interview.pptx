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89920" cy="5486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Research Experience and Future Research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64208"/>
            <a:ext cx="1042416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200" b="0">
                <a:solidFill>
                  <a:srgbClr val="CADEF7"/>
                </a:solidFill>
                <a:latin typeface="Aptos"/>
              </a:rPr>
              <a:t>Toward Simulation-Ready World Models for Embodied Robot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794760"/>
            <a:ext cx="4389120" cy="41148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Ziqi Hao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4279392"/>
            <a:ext cx="6949440" cy="6858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DAE4F1"/>
                </a:solidFill>
                <a:latin typeface="Aptos"/>
              </a:rPr>
              <a:t>B.Eng. Automation, Harbin Institute of Technology</a:t>
            </a:r>
            <a:br/>
            <a:r>
              <a:t>PhD Interview with Prof. Dan Wang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3767328"/>
            <a:ext cx="4389120" cy="105156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Long-term question:</a:t>
            </a:r>
            <a:br/>
            <a:r>
              <a:t>How can robots truly understand and interact with the physical world?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6473952"/>
            <a:ext cx="205740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06C7C"/>
                </a:solidFill>
                <a:latin typeface="Aptos"/>
              </a:rPr>
              <a:t>Ziqi Hao | PhD Interview | 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22A4A"/>
                </a:solidFill>
                <a:latin typeface="Aptos"/>
              </a:rPr>
              <a:t>About Me: Robotics, Learning, and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54864"/>
          </a:xfrm>
          <a:prstGeom prst="rect">
            <a:avLst/>
          </a:prstGeom>
          <a:solidFill>
            <a:srgbClr val="2B6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54480"/>
            <a:ext cx="3154679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B6AB7"/>
                </a:solidFill>
                <a:latin typeface="Aptos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84248"/>
            <a:ext cx="3108960" cy="1188719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Undergraduate student in Automation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Harbin Institute of Technology, expected B.Eng. in 2026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Research experience in robotics, RL, and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17320"/>
            <a:ext cx="37033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5424" y="1554480"/>
            <a:ext cx="3383279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68068"/>
                </a:solidFill>
                <a:latin typeface="Aptos"/>
              </a:rPr>
              <a:t>Previous Research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1984248"/>
            <a:ext cx="3337560" cy="182880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Humanoid whole-body motion retargeting and RL tracking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Quadruped locomotion with reinforcement learning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SE(3) geometric control for quadrotors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Trajectory optimization and vision-based robot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154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1554480"/>
            <a:ext cx="283464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D47B27"/>
                </a:solidFill>
                <a:latin typeface="Aptos"/>
              </a:rPr>
              <a:t>Long-Term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984248"/>
            <a:ext cx="2788920" cy="137160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Build embodied AI systems that can perceive, simulate, and interact with the physical world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Connect robot learning with physical world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663440"/>
            <a:ext cx="219456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22A4A"/>
                </a:solidFill>
                <a:latin typeface="Aptos"/>
              </a:rPr>
              <a:t>Core 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047488"/>
            <a:ext cx="10241280" cy="41148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2B6AB7"/>
                </a:solidFill>
                <a:latin typeface="Aptos"/>
              </a:rPr>
              <a:t>Robotics and control background → simulation bottlenecks → physical world models → embodied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6473952"/>
            <a:ext cx="205740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06C7C"/>
                </a:solidFill>
                <a:latin typeface="Aptos"/>
              </a:rPr>
              <a:t>Ziqi Hao | PhD Interview | 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22A4A"/>
                </a:solidFill>
                <a:latin typeface="Aptos"/>
              </a:rPr>
              <a:t>Motivation: Why World Models Matter for Robot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54864"/>
          </a:xfrm>
          <a:prstGeom prst="rect">
            <a:avLst/>
          </a:prstGeom>
          <a:solidFill>
            <a:srgbClr val="2B6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417320" cy="713232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Real World</a:t>
            </a:r>
            <a:br/>
            <a:r>
              <a:t>Observations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40" y="1965960"/>
            <a:ext cx="1417320" cy="713232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3D / 4D</a:t>
            </a:r>
            <a:br/>
            <a:r>
              <a:t>Reconstruction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965960"/>
            <a:ext cx="1417320" cy="713232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Physical</a:t>
            </a:r>
            <a:br/>
            <a:r>
              <a:t>World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965960"/>
            <a:ext cx="1417320" cy="713232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Simulation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965960"/>
            <a:ext cx="1417320" cy="713232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Policy</a:t>
            </a:r>
            <a:br/>
            <a:r>
              <a:t>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0" y="1965960"/>
            <a:ext cx="1417320" cy="713232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Robot</a:t>
            </a:r>
            <a:br/>
            <a:r>
              <a:t>Deployment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03120" y="2322576"/>
            <a:ext cx="502920" cy="0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60" y="2322576"/>
            <a:ext cx="502920" cy="0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43600" y="2322576"/>
            <a:ext cx="502920" cy="0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63840" y="2322576"/>
            <a:ext cx="502920" cy="0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84080" y="2322576"/>
            <a:ext cx="502920" cy="0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3657600"/>
            <a:ext cx="50749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794760"/>
            <a:ext cx="475488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D47B27"/>
                </a:solidFill>
                <a:latin typeface="Aptos"/>
              </a:rPr>
              <a:t>Current Challenges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224528"/>
            <a:ext cx="4709159" cy="114300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Simulation environments are expensive to build manually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Sim-to-real gap limits policy transfer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Dynamic scenes are difficult to model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Robot policies often lack physical and geometric understanding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57600"/>
            <a:ext cx="49834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3794760"/>
            <a:ext cx="466344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B6AB7"/>
                </a:solidFill>
                <a:latin typeface="Aptos"/>
              </a:rPr>
              <a:t>Key Hypothesis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24528"/>
            <a:ext cx="4617720" cy="114300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Better physical world models may improve embodied robot learning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Reconstructed worlds should be useful for learning and interaction, not only visually realistic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6473952"/>
            <a:ext cx="205740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06C7C"/>
                </a:solidFill>
                <a:latin typeface="Aptos"/>
              </a:rPr>
              <a:t>Ziqi Hao | PhD Interview | 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22A4A"/>
                </a:solidFill>
                <a:latin typeface="Aptos"/>
              </a:rPr>
              <a:t>Project 1: Humanoid Whole-Body Motion Retargeting and RL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54864"/>
          </a:xfrm>
          <a:prstGeom prst="rect">
            <a:avLst/>
          </a:prstGeom>
          <a:solidFill>
            <a:srgbClr val="2B6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74903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371600"/>
            <a:ext cx="3428999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B6AB7"/>
                </a:solidFill>
                <a:latin typeface="Aptos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3383279" cy="137160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Transfer human/reference motions to humanoid robots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Preserve expressive motion while satisfying robot constraints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Challenges: morphology mismatch, joint limits, balance, contact, dynamics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536192"/>
            <a:ext cx="1078992" cy="658368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Reference</a:t>
            </a:r>
            <a:br/>
            <a:r>
              <a:t>Motion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36192"/>
            <a:ext cx="1078992" cy="658368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Motion</a:t>
            </a:r>
            <a:br/>
            <a:r>
              <a:t>Retargeting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536192"/>
            <a:ext cx="1078992" cy="658368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Simulation</a:t>
            </a:r>
            <a:br/>
            <a:r>
              <a:t>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536192"/>
            <a:ext cx="1078992" cy="658368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RL-Based</a:t>
            </a:r>
            <a:br/>
            <a:r>
              <a:t>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1536192"/>
            <a:ext cx="1078992" cy="658368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Humanoid</a:t>
            </a:r>
            <a:br/>
            <a:r>
              <a:t>Execution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79592" y="1865376"/>
            <a:ext cx="292608" cy="0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51192" y="1865376"/>
            <a:ext cx="292608" cy="0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22792" y="1865376"/>
            <a:ext cx="292608" cy="0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94392" y="1865376"/>
            <a:ext cx="292608" cy="0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5800" y="3703320"/>
            <a:ext cx="53035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840480"/>
            <a:ext cx="498348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68068"/>
                </a:solidFill>
                <a:latin typeface="Aptos"/>
              </a:rPr>
              <a:t>My Contributions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8"/>
            <a:ext cx="4937759" cy="128016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Built and tested the motion retargeting pipeline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Mapped reference motions to humanoid kinematic structure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Trained RL tracking policies in simulation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Analyzed failure cases related to contact, balance, and tracking stability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0332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840480"/>
            <a:ext cx="475488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D47B27"/>
                </a:solidFill>
                <a:latin typeface="Aptos"/>
              </a:rPr>
              <a:t>Scientific 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70248"/>
            <a:ext cx="4709159" cy="73152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Humanoid motion learning is constrained not only by policy design, but also by physical feasibility and simulation fidelity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6473952"/>
            <a:ext cx="205740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06C7C"/>
                </a:solidFill>
                <a:latin typeface="Aptos"/>
              </a:rPr>
              <a:t>Ziqi Hao | PhD Interview | 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22A4A"/>
                </a:solidFill>
                <a:latin typeface="Aptos"/>
              </a:rPr>
              <a:t>What I Learned: Physical Feasibility and Simulation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54864"/>
          </a:xfrm>
          <a:prstGeom prst="rect">
            <a:avLst/>
          </a:prstGeom>
          <a:solidFill>
            <a:srgbClr val="2B6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5166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508760"/>
            <a:ext cx="484632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B6AB7"/>
                </a:solidFill>
                <a:latin typeface="Aptos"/>
              </a:rPr>
              <a:t>Key Lessons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38528"/>
            <a:ext cx="4800600" cy="155448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Motion imitation is not only a learning problem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Physical feasibility is essential for humanoid motion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Robot behavior depends on contact dynamics, body geometry, joint constraints, actuation limits, and environment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5166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508760"/>
            <a:ext cx="484632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68068"/>
                </a:solidFill>
                <a:latin typeface="Aptos"/>
              </a:rPr>
              <a:t>Reflection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38528"/>
            <a:ext cx="4800600" cy="155448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Policy learning is only one part of the problem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The quality of simulation and physical representation affects what a robot can learn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This motivated my interest in physical world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70832"/>
            <a:ext cx="2286000" cy="2743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22A4A"/>
                </a:solidFill>
                <a:latin typeface="Aptos"/>
              </a:rPr>
              <a:t>Scientific insight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36592"/>
            <a:ext cx="10241280" cy="868680"/>
          </a:xfrm>
          <a:prstGeom prst="roundRect">
            <a:avLst/>
          </a:prstGeom>
          <a:solidFill>
            <a:srgbClr val="E2EDFA"/>
          </a:solidFill>
          <a:ln>
            <a:solidFill>
              <a:srgbClr val="B4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22A4A"/>
                </a:solidFill>
              </a:defRPr>
            </a:pPr>
            <a:r>
              <a:t>Robot behaviors are shaped by policies, but bounded by physics, contacts, and the simulated world they experience.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6473952"/>
            <a:ext cx="205740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06C7C"/>
                </a:solidFill>
                <a:latin typeface="Aptos"/>
              </a:rPr>
              <a:t>Ziqi Hao | PhD Interview | 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22A4A"/>
                </a:solidFill>
                <a:latin typeface="Aptos"/>
              </a:rPr>
              <a:t>Project 2: Quadruped Locomotion with Reinforcement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54864"/>
          </a:xfrm>
          <a:prstGeom prst="rect">
            <a:avLst/>
          </a:prstGeom>
          <a:solidFill>
            <a:srgbClr val="2B6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5661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371600"/>
            <a:ext cx="324612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B6AB7"/>
                </a:solidFill>
                <a:latin typeface="Aptos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3200400" cy="1188719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Learn robust locomotion policies for quadruped robots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Handle variations in dynamics and terrain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Improve robustness for simulation and real-robot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234440"/>
            <a:ext cx="36118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371600"/>
            <a:ext cx="329184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68068"/>
                </a:solidFill>
                <a:latin typeface="Aptos"/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801368"/>
            <a:ext cx="3246120" cy="155448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End-to-end RL policy training in simulation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Reward design: velocity tracking, stability, smoothness, energy efficiency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Domain randomization for robustness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Simulation evaluation and hardware-related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234440"/>
            <a:ext cx="30632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371600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D47B27"/>
                </a:solidFill>
                <a:latin typeface="Aptos"/>
              </a:rPr>
              <a:t>My Contributions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801368"/>
            <a:ext cx="2697480" cy="155448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Implemented and tuned the RL training pipeline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Designed and adjusted reward terms for stable locomotion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Evaluated policy robustness and failure modes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51960"/>
            <a:ext cx="10241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389120"/>
            <a:ext cx="992124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22A4A"/>
                </a:solidFill>
                <a:latin typeface="Aptos"/>
              </a:rPr>
              <a:t>Scientific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818888"/>
            <a:ext cx="9875519" cy="411479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Improving RL algorithms alone is insufficient if the simulated world cannot accurately represent the physical interactions encountered during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6473952"/>
            <a:ext cx="205740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06C7C"/>
                </a:solidFill>
                <a:latin typeface="Aptos"/>
              </a:rPr>
              <a:t>Ziqi Hao | PhD Interview | 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22A4A"/>
                </a:solidFill>
                <a:latin typeface="Aptos"/>
              </a:rPr>
              <a:t>Common Bottleneck: Simulation Quality and Physical Realism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54864"/>
          </a:xfrm>
          <a:prstGeom prst="rect">
            <a:avLst/>
          </a:prstGeom>
          <a:solidFill>
            <a:srgbClr val="2B6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508760"/>
            <a:ext cx="1920240" cy="713232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Humanoid</a:t>
            </a:r>
            <a:br/>
            <a:r>
              <a:t>Motion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743200"/>
            <a:ext cx="1920240" cy="713232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Quadruped</a:t>
            </a:r>
            <a:br/>
            <a:r>
              <a:t>Locomotion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977639"/>
            <a:ext cx="1920240" cy="713232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Manipulation and</a:t>
            </a:r>
            <a:br/>
            <a:r>
              <a:t>Interaction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71800" y="1865376"/>
            <a:ext cx="1188720" cy="0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971800" y="3099816"/>
            <a:ext cx="1188720" cy="0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71800" y="4334256"/>
            <a:ext cx="1188720" cy="0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06240" y="1508760"/>
            <a:ext cx="1874519" cy="713232"/>
          </a:xfrm>
          <a:prstGeom prst="roundRect">
            <a:avLst/>
          </a:prstGeom>
          <a:solidFill>
            <a:srgbClr val="EBF5F1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68068"/>
                </a:solidFill>
              </a:defRPr>
            </a:pPr>
            <a:r>
              <a:t>Needs physical</a:t>
            </a:r>
            <a:br/>
            <a:r>
              <a:t>simulation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743200"/>
            <a:ext cx="1874519" cy="713232"/>
          </a:xfrm>
          <a:prstGeom prst="roundRect">
            <a:avLst/>
          </a:prstGeom>
          <a:solidFill>
            <a:srgbClr val="EBF5F1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68068"/>
                </a:solidFill>
              </a:defRPr>
            </a:pPr>
            <a:r>
              <a:t>Needs robust simulated</a:t>
            </a:r>
            <a:br/>
            <a:r>
              <a:t>environments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977639"/>
            <a:ext cx="1874519" cy="713232"/>
          </a:xfrm>
          <a:prstGeom prst="roundRect">
            <a:avLst/>
          </a:prstGeom>
          <a:solidFill>
            <a:srgbClr val="EBF5F1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68068"/>
                </a:solidFill>
              </a:defRPr>
            </a:pPr>
            <a:r>
              <a:t>Needs geometry, contact,</a:t>
            </a:r>
            <a:br/>
            <a:r>
              <a:t>and object dynamics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417320"/>
            <a:ext cx="36118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1554480"/>
            <a:ext cx="329184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D47B27"/>
                </a:solidFill>
                <a:latin typeface="Aptos"/>
              </a:rPr>
              <a:t>Common Bottleneck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1984248"/>
            <a:ext cx="3246120" cy="219456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Simulation quality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Physical realism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Dynamic environment modeling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Contact and material properties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Scene understanding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623560"/>
            <a:ext cx="10058400" cy="41148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2300" b="1">
                <a:solidFill>
                  <a:srgbClr val="2B6AB7"/>
                </a:solidFill>
                <a:latin typeface="Aptos"/>
              </a:rPr>
              <a:t>Research motivation: Can we build simulation-ready world models from real observations?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6473952"/>
            <a:ext cx="205740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06C7C"/>
                </a:solidFill>
                <a:latin typeface="Aptos"/>
              </a:rPr>
              <a:t>Ziqi Hao | PhD Interview | 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22A4A"/>
                </a:solidFill>
                <a:latin typeface="Aptos"/>
              </a:rPr>
              <a:t>Why Prof. Wang's Research Directly Connects to My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54864"/>
          </a:xfrm>
          <a:prstGeom prst="rect">
            <a:avLst/>
          </a:prstGeom>
          <a:solidFill>
            <a:srgbClr val="2B6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371600"/>
            <a:ext cx="3383279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B6AB7"/>
                </a:solidFill>
                <a:latin typeface="Aptos"/>
              </a:rPr>
              <a:t>My Problem from Robotics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3337560" cy="86868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Robot learning requires simulation environments that capture geometry, motion, contact, physical properties, and dynamic scene evolution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54680"/>
            <a:ext cx="37033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3291840"/>
            <a:ext cx="3383279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D47B27"/>
                </a:solidFill>
                <a:latin typeface="Aptos"/>
              </a:rPr>
              <a:t>Missing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21608"/>
            <a:ext cx="3337560" cy="1188719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Current robot simulations are often manually designed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Limited in diversity and hard to scale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Not reconstructed from real-world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234440"/>
            <a:ext cx="612648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22A4A"/>
                </a:solidFill>
                <a:latin typeface="Aptos"/>
              </a:rPr>
              <a:t>Prof. Wang's work provides key building blocks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691640"/>
            <a:ext cx="2331720" cy="438912"/>
          </a:xfrm>
          <a:prstGeom prst="rect">
            <a:avLst/>
          </a:prstGeom>
          <a:solidFill>
            <a:srgbClr val="122A4A"/>
          </a:solidFill>
          <a:ln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Robotics Need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691640"/>
            <a:ext cx="4069080" cy="438912"/>
          </a:xfrm>
          <a:prstGeom prst="rect">
            <a:avLst/>
          </a:prstGeom>
          <a:solidFill>
            <a:srgbClr val="122A4A"/>
          </a:solidFill>
          <a:ln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Related Direction in Prof. Wang's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130552"/>
            <a:ext cx="2331720" cy="438912"/>
          </a:xfrm>
          <a:prstGeom prst="rect">
            <a:avLst/>
          </a:prstGeom>
          <a:solidFill>
            <a:srgbClr val="E2EDFA"/>
          </a:solidFill>
          <a:ln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42C38"/>
                </a:solidFill>
              </a:defRPr>
            </a:pPr>
            <a:r>
              <a:t>Geometry and appearance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2130552"/>
            <a:ext cx="4069080" cy="438912"/>
          </a:xfrm>
          <a:prstGeom prst="rect">
            <a:avLst/>
          </a:prstGeom>
          <a:solidFill>
            <a:srgbClr val="E2EDFA"/>
          </a:solidFill>
          <a:ln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42C38"/>
                </a:solidFill>
              </a:defRPr>
            </a:pPr>
            <a:r>
              <a:t>3D reconstruction, neural rendering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569464"/>
            <a:ext cx="2331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42C38"/>
                </a:solidFill>
              </a:defRPr>
            </a:pPr>
            <a:r>
              <a:t>Dynamic objects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2569464"/>
            <a:ext cx="40690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42C38"/>
                </a:solidFill>
              </a:defRPr>
            </a:pPr>
            <a:r>
              <a:t>Dynamic 3D / 4D reconstruction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008376"/>
            <a:ext cx="2331720" cy="438912"/>
          </a:xfrm>
          <a:prstGeom prst="rect">
            <a:avLst/>
          </a:prstGeom>
          <a:solidFill>
            <a:srgbClr val="E2EDFA"/>
          </a:solidFill>
          <a:ln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42C38"/>
                </a:solidFill>
              </a:defRPr>
            </a:pPr>
            <a:r>
              <a:t>Physical consistency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3008376"/>
            <a:ext cx="4069080" cy="438912"/>
          </a:xfrm>
          <a:prstGeom prst="rect">
            <a:avLst/>
          </a:prstGeom>
          <a:solidFill>
            <a:srgbClr val="E2EDFA"/>
          </a:solidFill>
          <a:ln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42C38"/>
                </a:solidFill>
              </a:defRPr>
            </a:pPr>
            <a:r>
              <a:t>Physics-informed world simulation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3447288"/>
            <a:ext cx="2331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42C38"/>
                </a:solidFill>
              </a:defRPr>
            </a:pPr>
            <a:r>
              <a:t>Articulated motion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3447288"/>
            <a:ext cx="40690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42C38"/>
                </a:solidFill>
              </a:defRPr>
            </a:pPr>
            <a:r>
              <a:t>Part-aware articulated reconstruction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886200"/>
            <a:ext cx="2331720" cy="438912"/>
          </a:xfrm>
          <a:prstGeom prst="rect">
            <a:avLst/>
          </a:prstGeom>
          <a:solidFill>
            <a:srgbClr val="E2EDFA"/>
          </a:solidFill>
          <a:ln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42C38"/>
                </a:solidFill>
              </a:defRPr>
            </a:pPr>
            <a:r>
              <a:t>Interpretability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3886200"/>
            <a:ext cx="4069080" cy="438912"/>
          </a:xfrm>
          <a:prstGeom prst="rect">
            <a:avLst/>
          </a:prstGeom>
          <a:solidFill>
            <a:srgbClr val="E2EDFA"/>
          </a:solidFill>
          <a:ln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42C38"/>
                </a:solidFill>
              </a:defRPr>
            </a:pPr>
            <a:r>
              <a:t>Explainable and trustworthy 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4617720"/>
            <a:ext cx="6355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4754880"/>
            <a:ext cx="603504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68068"/>
                </a:solidFill>
                <a:latin typeface="Aptos"/>
              </a:rPr>
              <a:t>Representative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5184648"/>
            <a:ext cx="5989320" cy="54864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PhysConvex: dynamic 3D reconstruction + physical simulation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ArtMesh: part-aware articulated object reconstruction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InNeRF: interpretable and generalizable radiance fields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6473952"/>
            <a:ext cx="205740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06C7C"/>
                </a:solidFill>
                <a:latin typeface="Aptos"/>
              </a:rPr>
              <a:t>Ziqi Hao | PhD Interview | 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22A4A"/>
                </a:solidFill>
                <a:latin typeface="Aptos"/>
              </a:rPr>
              <a:t>Future Vision: Simulation-Ready Physical World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54864"/>
          </a:xfrm>
          <a:prstGeom prst="rect">
            <a:avLst/>
          </a:prstGeom>
          <a:solidFill>
            <a:srgbClr val="2B6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1417320" cy="749808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Videos / Multimodal</a:t>
            </a:r>
            <a:br/>
            <a:r>
              <a:t>Observations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40" y="1828800"/>
            <a:ext cx="1417320" cy="749808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3D / 4D</a:t>
            </a:r>
            <a:br/>
            <a:r>
              <a:t>Reconstruction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828800"/>
            <a:ext cx="1417320" cy="749808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Physical</a:t>
            </a:r>
            <a:br/>
            <a:r>
              <a:t>Representation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28800"/>
            <a:ext cx="1417320" cy="749808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Simulation-Ready</a:t>
            </a:r>
            <a:br/>
            <a:r>
              <a:t>Environment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828800"/>
            <a:ext cx="1417320" cy="749808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Embodied Policy</a:t>
            </a:r>
            <a:br/>
            <a:r>
              <a:t>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0" y="1828800"/>
            <a:ext cx="1417320" cy="749808"/>
          </a:xfrm>
          <a:prstGeom prst="roundRect">
            <a:avLst/>
          </a:prstGeom>
          <a:solidFill>
            <a:srgbClr val="E2EDFA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A4A"/>
                </a:solidFill>
              </a:defRPr>
            </a:pPr>
            <a:r>
              <a:t>Real-World Robot</a:t>
            </a:r>
            <a:br/>
            <a:r>
              <a:t>Interaction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03120" y="2203704"/>
            <a:ext cx="502920" cy="0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60" y="2203704"/>
            <a:ext cx="502920" cy="0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43600" y="2203704"/>
            <a:ext cx="502920" cy="0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63840" y="2203704"/>
            <a:ext cx="502920" cy="0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84080" y="2203704"/>
            <a:ext cx="502920" cy="0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51560" y="3749039"/>
            <a:ext cx="4754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1" y="3886200"/>
            <a:ext cx="443484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B6AB7"/>
                </a:solidFill>
                <a:latin typeface="Aptos"/>
              </a:rPr>
              <a:t>Core 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15968"/>
            <a:ext cx="4389120" cy="1188719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Physics-aware reconstruction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Dynamic scene modeling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Object and material properties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Contact and interaction modeling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Robot learning in reconstructed worlds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49039"/>
            <a:ext cx="47548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886200"/>
            <a:ext cx="443484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68068"/>
                </a:solidFill>
                <a:latin typeface="Aptos"/>
              </a:rPr>
              <a:t>Long-Term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315968"/>
            <a:ext cx="4389120" cy="822959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Build physical world models that support embodied robot learning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Connect computer vision, graphics, physical simulation, and robotics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6473952"/>
            <a:ext cx="205740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06C7C"/>
                </a:solidFill>
                <a:latin typeface="Aptos"/>
              </a:rPr>
              <a:t>Ziqi Hao | PhD Interview | 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22A4A"/>
                </a:solidFill>
                <a:latin typeface="Aptos"/>
              </a:rPr>
              <a:t>Research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54864"/>
          </a:xfrm>
          <a:prstGeom prst="rect">
            <a:avLst/>
          </a:prstGeom>
          <a:solidFill>
            <a:srgbClr val="2B6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298448"/>
            <a:ext cx="502920" cy="502920"/>
          </a:xfrm>
          <a:prstGeom prst="ellipse">
            <a:avLst/>
          </a:prstGeom>
          <a:solidFill>
            <a:srgbClr val="2B6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325880"/>
            <a:ext cx="9601200" cy="41148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242C38"/>
                </a:solidFill>
                <a:latin typeface="Aptos"/>
              </a:rPr>
              <a:t>How can robots reconstruct dynamic physical worlds from sparse observations?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76272"/>
            <a:ext cx="502920" cy="502920"/>
          </a:xfrm>
          <a:prstGeom prst="ellipse">
            <a:avLst/>
          </a:prstGeom>
          <a:solidFill>
            <a:srgbClr val="2B6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2203703"/>
            <a:ext cx="9601200" cy="41148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242C38"/>
                </a:solidFill>
                <a:latin typeface="Aptos"/>
              </a:rPr>
              <a:t>How can reconstructed 3D / 4D scenes become simulation-ready?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054096"/>
            <a:ext cx="502920" cy="502920"/>
          </a:xfrm>
          <a:prstGeom prst="ellipse">
            <a:avLst/>
          </a:prstGeom>
          <a:solidFill>
            <a:srgbClr val="2B6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3081527"/>
            <a:ext cx="9601200" cy="41148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242C38"/>
                </a:solidFill>
                <a:latin typeface="Aptos"/>
              </a:rPr>
              <a:t>How can physical world models improve policy learning and generalization?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931920"/>
            <a:ext cx="502920" cy="502920"/>
          </a:xfrm>
          <a:prstGeom prst="ellipse">
            <a:avLst/>
          </a:prstGeom>
          <a:solidFill>
            <a:srgbClr val="26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3959352"/>
            <a:ext cx="9601200" cy="41148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242C38"/>
                </a:solidFill>
                <a:latin typeface="Aptos"/>
              </a:rPr>
              <a:t>How can embodied agents interact safely with dynamic environments?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809744"/>
            <a:ext cx="502920" cy="502920"/>
          </a:xfrm>
          <a:prstGeom prst="ellipse">
            <a:avLst/>
          </a:prstGeom>
          <a:solidFill>
            <a:srgbClr val="26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4837176"/>
            <a:ext cx="9601200" cy="41148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242C38"/>
                </a:solidFill>
                <a:latin typeface="Aptos"/>
              </a:rPr>
              <a:t>How can we make these representations interpretable and trustworthy?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6473952"/>
            <a:ext cx="205740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06C7C"/>
                </a:solidFill>
                <a:latin typeface="Aptos"/>
              </a:rPr>
              <a:t>Ziqi Hao | PhD Interview | 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22A4A"/>
                </a:solidFill>
                <a:latin typeface="Aptos"/>
              </a:rPr>
              <a:t>Why My Background Fits This Direction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54864"/>
          </a:xfrm>
          <a:prstGeom prst="rect">
            <a:avLst/>
          </a:prstGeom>
          <a:solidFill>
            <a:srgbClr val="2B6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2240280" cy="658368"/>
          </a:xfrm>
          <a:prstGeom prst="roundRect">
            <a:avLst/>
          </a:prstGeom>
          <a:solidFill>
            <a:srgbClr val="EFF5FC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B6AB7"/>
                </a:solidFill>
              </a:defRPr>
            </a:pPr>
            <a:r>
              <a:t>Robotics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14600"/>
            <a:ext cx="2240280" cy="658368"/>
          </a:xfrm>
          <a:prstGeom prst="roundRect">
            <a:avLst/>
          </a:prstGeom>
          <a:solidFill>
            <a:srgbClr val="EFF5FC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68068"/>
                </a:solidFill>
              </a:defRPr>
            </a:pPr>
            <a:r>
              <a:t>Learning-Based</a:t>
            </a:r>
            <a:br/>
            <a:r>
              <a:t>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2240280" cy="658368"/>
          </a:xfrm>
          <a:prstGeom prst="roundRect">
            <a:avLst/>
          </a:prstGeom>
          <a:solidFill>
            <a:srgbClr val="EFF5FC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D47B27"/>
                </a:solidFill>
              </a:defRPr>
            </a:pPr>
            <a:r>
              <a:t>Simulation and</a:t>
            </a:r>
            <a:br/>
            <a:r>
              <a:t>Sim-to-Real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715000"/>
            <a:ext cx="2240280" cy="658368"/>
          </a:xfrm>
          <a:prstGeom prst="roundRect">
            <a:avLst/>
          </a:prstGeom>
          <a:solidFill>
            <a:srgbClr val="EFF5FC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B6AB7"/>
                </a:solidFill>
              </a:defRPr>
            </a:pPr>
            <a:r>
              <a:t>Need for Physical</a:t>
            </a:r>
            <a:br/>
            <a:r>
              <a:t>World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7315200"/>
            <a:ext cx="2240280" cy="658368"/>
          </a:xfrm>
          <a:prstGeom prst="roundRect">
            <a:avLst/>
          </a:prstGeom>
          <a:solidFill>
            <a:srgbClr val="EFF5FC"/>
          </a:solidFill>
          <a:ln>
            <a:solidFill>
              <a:srgbClr val="AAC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68068"/>
                </a:solidFill>
              </a:defRPr>
            </a:pPr>
            <a:r>
              <a:t>Embodied AI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29968" y="1572768"/>
            <a:ext cx="0" cy="941832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29968" y="3172968"/>
            <a:ext cx="0" cy="941832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29968" y="4773168"/>
            <a:ext cx="0" cy="941832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29968" y="6373368"/>
            <a:ext cx="0" cy="941832"/>
          </a:xfrm>
          <a:prstGeom prst="line">
            <a:avLst/>
          </a:prstGeom>
          <a:ln w="19050">
            <a:solidFill>
              <a:srgbClr val="2B6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86200" y="1234440"/>
            <a:ext cx="3657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0791" y="1371600"/>
            <a:ext cx="333756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B6AB7"/>
                </a:solidFill>
                <a:latin typeface="Aptos"/>
              </a:rPr>
              <a:t>My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01368"/>
            <a:ext cx="3291840" cy="205740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Robotics: humanoid motion, quadruped locomotion, UAV control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Learning: RL tracking, locomotion policy training, reward design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Control: SE(3) control, trajectory optimization, dynamics understanding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Simulation: policy training, validation, failure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23444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82712" y="1371600"/>
            <a:ext cx="306324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68068"/>
                </a:solidFill>
                <a:latin typeface="Aptos"/>
              </a:rPr>
              <a:t>Future Extension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801368"/>
            <a:ext cx="3017520" cy="1645919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3D / 4D reconstruction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Physics-informed simulation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Simulation-ready environments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Embodied interaction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4983480"/>
            <a:ext cx="6766560" cy="59436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122A4A"/>
                </a:solidFill>
                <a:latin typeface="Aptos"/>
              </a:rPr>
              <a:t>Key message: I am not leaving robotics. I am extending robotics toward physical world modeling.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6473952"/>
            <a:ext cx="205740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06C7C"/>
                </a:solidFill>
                <a:latin typeface="Aptos"/>
              </a:rPr>
              <a:t>Ziqi Hao | PhD Interview | 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22A4A"/>
                </a:solidFill>
                <a:latin typeface="Aptos"/>
              </a:rPr>
              <a:t>Why Prof. Wang's Group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54864"/>
          </a:xfrm>
          <a:prstGeom prst="rect">
            <a:avLst/>
          </a:prstGeom>
          <a:solidFill>
            <a:srgbClr val="2B6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50292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463039"/>
            <a:ext cx="470916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B6AB7"/>
                </a:solidFill>
                <a:latin typeface="Aptos"/>
              </a:rPr>
              <a:t>Why I Am Interested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92807"/>
            <a:ext cx="4663440" cy="178308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Your research bridges computer vision, graphics, and AI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Strong focus on physical scene understanding and simulation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Work on dynamic reconstruction and interpretable neural representations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Clear connection to embodied AI and physical world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0292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463039"/>
            <a:ext cx="470916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68068"/>
                </a:solidFill>
                <a:latin typeface="Aptos"/>
              </a:rPr>
              <a:t>Potential Complementarity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92807"/>
            <a:ext cx="4663440" cy="100584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Prof. Wang's group: physical scene reconstruction and world simulation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My background: robot learning, control, and embodied 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36592"/>
            <a:ext cx="1005840" cy="2743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22A4A"/>
                </a:solidFill>
                <a:latin typeface="Aptos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149840" cy="4572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2B6AB7"/>
                </a:solidFill>
                <a:latin typeface="Aptos"/>
              </a:rPr>
              <a:t>Bridge physical world models with robot learning.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6473952"/>
            <a:ext cx="205740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06C7C"/>
                </a:solidFill>
                <a:latin typeface="Aptos"/>
              </a:rPr>
              <a:t>Ziqi Hao | PhD Interview | 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22A4A"/>
                </a:solidFill>
                <a:latin typeface="Aptos"/>
              </a:rPr>
              <a:t>Long-Term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54864"/>
          </a:xfrm>
          <a:prstGeom prst="rect">
            <a:avLst/>
          </a:prstGeom>
          <a:solidFill>
            <a:srgbClr val="2B6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5029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54480"/>
            <a:ext cx="470916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B6AB7"/>
                </a:solidFill>
                <a:latin typeface="Aptos"/>
              </a:rPr>
              <a:t>To Build Embodied AI Systems That: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984248"/>
            <a:ext cx="4663440" cy="205740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Learn from realistic physical world models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Understand geometry, motion, contact, and dynamics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Generalize from simulation to real-world environments</a:t>
            </a:r>
          </a:p>
          <a:p>
            <a:pPr marL="285750" indent="-171450">
              <a:spcAft>
                <a:spcPts val="600"/>
              </a:spcAft>
              <a:defRPr sz="1350">
                <a:solidFill>
                  <a:srgbClr val="242C38"/>
                </a:solidFill>
                <a:latin typeface="Aptos"/>
              </a:defRPr>
            </a:pPr>
            <a:r>
              <a:t>Interact safely with dynamic physical scenes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572768"/>
            <a:ext cx="4754880" cy="219456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 hope to contribute to the next generation of embodied AI by connecting physical world modeling with robot learning.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2743200" cy="4572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A4A"/>
                </a:solidFill>
                <a:latin typeface="Aptos"/>
              </a:rPr>
              <a:t>Thank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41264"/>
            <a:ext cx="768096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606C7C"/>
                </a:solidFill>
                <a:latin typeface="Aptos"/>
              </a:rPr>
              <a:t>I would be very happy to discuss my research experience and future directions.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6473952"/>
            <a:ext cx="205740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850" b="0">
                <a:solidFill>
                  <a:srgbClr val="606C7C"/>
                </a:solidFill>
                <a:latin typeface="Aptos"/>
              </a:rPr>
              <a:t>Ziqi Hao | PhD Interview | 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